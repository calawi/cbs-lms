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90867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F"/>
          </a:solidFill>
          <a:ln w="12700">
            <a:solidFill>
              <a:srgbClr val="F7FA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/mnt/data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411480"/>
            <a:ext cx="3657600" cy="11107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685800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82B68"/>
                </a:solidFill>
              </a:rPr>
              <a:t>CBS LMS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530352" y="1417320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82B68"/>
                </a:solidFill>
              </a:rPr>
              <a:t>Business Process Overview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548640" y="2011680"/>
            <a:ext cx="4297680" cy="0"/>
          </a:xfrm>
          <a:prstGeom prst="line">
            <a:avLst/>
          </a:prstGeom>
          <a:noFill/>
          <a:ln w="25400">
            <a:solidFill>
              <a:srgbClr val="0B5F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48640" y="233172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344054"/>
                </a:solidFill>
              </a:rPr>
              <a:t>A clear director-level view of how staff learning moves from course setup to certification.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22960" y="3154680"/>
            <a:ext cx="841248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3233A"/>
                </a:solidFill>
              </a:rPr>
              <a:t>Three roles: Learner, Instructor, Sysadmin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3233A"/>
                </a:solidFill>
              </a:rPr>
              <a:t>Course delivery, progress tracking, assessments, certificates, reports, and audit records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3233A"/>
                </a:solidFill>
              </a:rPr>
              <a:t>Clean workflow supported by structured database tables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F"/>
          </a:solidFill>
          <a:ln w="12700">
            <a:solidFill>
              <a:srgbClr val="F7FA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84048" y="24688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82B6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CBS LMS Workflow</a:t>
            </a:r>
            <a:endParaRPr lang="en-US" sz="3000" dirty="0"/>
          </a:p>
        </p:txBody>
      </p:sp>
      <p:pic>
        <p:nvPicPr>
          <p:cNvPr id="4" name="Image 0" descr="/mnt/data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210312"/>
            <a:ext cx="3154680" cy="9579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11480" y="11155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82B68"/>
                </a:solidFill>
              </a:rPr>
              <a:t>Main LMS Journey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411480" y="1481328"/>
            <a:ext cx="1508760" cy="713232"/>
          </a:xfrm>
          <a:prstGeom prst="roundRect">
            <a:avLst>
              <a:gd name="adj" fmla="val 10256"/>
            </a:avLst>
          </a:prstGeom>
          <a:solidFill>
            <a:srgbClr val="FDFEFF"/>
          </a:solidFill>
          <a:ln w="16510">
            <a:solidFill>
              <a:srgbClr val="0B5F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02920" y="1618488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082B68"/>
                </a:solidFill>
              </a:rPr>
              <a:t>1. Login</a:t>
            </a:r>
            <a:endParaRPr lang="en-US" sz="1320" dirty="0"/>
          </a:p>
        </p:txBody>
      </p:sp>
      <p:sp>
        <p:nvSpPr>
          <p:cNvPr id="8" name="Text 5"/>
          <p:cNvSpPr/>
          <p:nvPr/>
        </p:nvSpPr>
        <p:spPr>
          <a:xfrm>
            <a:off x="502920" y="1965960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13233A"/>
                </a:solidFill>
              </a:rPr>
              <a:t>Access LMS</a:t>
            </a:r>
            <a:endParaRPr lang="en-US" sz="880" dirty="0"/>
          </a:p>
        </p:txBody>
      </p:sp>
      <p:sp>
        <p:nvSpPr>
          <p:cNvPr id="9" name="Shape 6"/>
          <p:cNvSpPr/>
          <p:nvPr/>
        </p:nvSpPr>
        <p:spPr>
          <a:xfrm>
            <a:off x="2203704" y="1481328"/>
            <a:ext cx="1508760" cy="713232"/>
          </a:xfrm>
          <a:prstGeom prst="roundRect">
            <a:avLst>
              <a:gd name="adj" fmla="val 10256"/>
            </a:avLst>
          </a:prstGeom>
          <a:solidFill>
            <a:srgbClr val="FFF6EA"/>
          </a:solidFill>
          <a:ln w="1651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2295144" y="1618488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082B68"/>
                </a:solidFill>
              </a:rPr>
              <a:t>2. Publish</a:t>
            </a:r>
            <a:endParaRPr lang="en-US" sz="1320" dirty="0"/>
          </a:p>
          <a:p>
            <a:pPr marL="0" indent="0" algn="ctr">
              <a:buNone/>
            </a:pPr>
            <a:r>
              <a:rPr lang="en-US" sz="1320" b="1" dirty="0">
                <a:solidFill>
                  <a:srgbClr val="082B68"/>
                </a:solidFill>
              </a:rPr>
              <a:t>Course</a:t>
            </a:r>
            <a:endParaRPr lang="en-US" sz="1320" dirty="0"/>
          </a:p>
        </p:txBody>
      </p:sp>
      <p:sp>
        <p:nvSpPr>
          <p:cNvPr id="11" name="Text 8"/>
          <p:cNvSpPr/>
          <p:nvPr/>
        </p:nvSpPr>
        <p:spPr>
          <a:xfrm>
            <a:off x="2295144" y="1965960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13233A"/>
                </a:solidFill>
              </a:rPr>
              <a:t>Instructor adds</a:t>
            </a:r>
            <a:endParaRPr lang="en-US" sz="880" dirty="0"/>
          </a:p>
          <a:p>
            <a:pPr marL="0" indent="0" algn="ctr">
              <a:buNone/>
            </a:pPr>
            <a:r>
              <a:rPr lang="en-US" sz="880" dirty="0">
                <a:solidFill>
                  <a:srgbClr val="13233A"/>
                </a:solidFill>
              </a:rPr>
              <a:t>content</a:t>
            </a:r>
            <a:endParaRPr lang="en-US" sz="880" dirty="0"/>
          </a:p>
        </p:txBody>
      </p:sp>
      <p:sp>
        <p:nvSpPr>
          <p:cNvPr id="12" name="Shape 9"/>
          <p:cNvSpPr/>
          <p:nvPr/>
        </p:nvSpPr>
        <p:spPr>
          <a:xfrm>
            <a:off x="3995928" y="1481328"/>
            <a:ext cx="1508760" cy="713232"/>
          </a:xfrm>
          <a:prstGeom prst="roundRect">
            <a:avLst>
              <a:gd name="adj" fmla="val 10256"/>
            </a:avLst>
          </a:prstGeom>
          <a:solidFill>
            <a:srgbClr val="FDFEFF"/>
          </a:solidFill>
          <a:ln w="16510">
            <a:solidFill>
              <a:srgbClr val="0B5F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087368" y="1618488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082B68"/>
                </a:solidFill>
              </a:rPr>
              <a:t>3. Enroll</a:t>
            </a:r>
            <a:endParaRPr lang="en-US" sz="1320" dirty="0"/>
          </a:p>
        </p:txBody>
      </p:sp>
      <p:sp>
        <p:nvSpPr>
          <p:cNvPr id="14" name="Text 11"/>
          <p:cNvSpPr/>
          <p:nvPr/>
        </p:nvSpPr>
        <p:spPr>
          <a:xfrm>
            <a:off x="4087368" y="1965960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13233A"/>
                </a:solidFill>
              </a:rPr>
              <a:t>Learner joins</a:t>
            </a:r>
            <a:endParaRPr lang="en-US" sz="880" dirty="0"/>
          </a:p>
          <a:p>
            <a:pPr marL="0" indent="0" algn="ctr">
              <a:buNone/>
            </a:pPr>
            <a:r>
              <a:rPr lang="en-US" sz="880" dirty="0">
                <a:solidFill>
                  <a:srgbClr val="13233A"/>
                </a:solidFill>
              </a:rPr>
              <a:t>course</a:t>
            </a:r>
            <a:endParaRPr lang="en-US" sz="880" dirty="0"/>
          </a:p>
        </p:txBody>
      </p:sp>
      <p:sp>
        <p:nvSpPr>
          <p:cNvPr id="15" name="Shape 12"/>
          <p:cNvSpPr/>
          <p:nvPr/>
        </p:nvSpPr>
        <p:spPr>
          <a:xfrm>
            <a:off x="5788152" y="1481328"/>
            <a:ext cx="1508760" cy="713232"/>
          </a:xfrm>
          <a:prstGeom prst="roundRect">
            <a:avLst>
              <a:gd name="adj" fmla="val 10256"/>
            </a:avLst>
          </a:prstGeom>
          <a:solidFill>
            <a:srgbClr val="FDFEFF"/>
          </a:solidFill>
          <a:ln w="16510">
            <a:solidFill>
              <a:srgbClr val="0B5F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5879592" y="1618488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082B68"/>
                </a:solidFill>
              </a:rPr>
              <a:t>4. Learn</a:t>
            </a:r>
            <a:endParaRPr lang="en-US" sz="1320" dirty="0"/>
          </a:p>
        </p:txBody>
      </p:sp>
      <p:sp>
        <p:nvSpPr>
          <p:cNvPr id="17" name="Text 14"/>
          <p:cNvSpPr/>
          <p:nvPr/>
        </p:nvSpPr>
        <p:spPr>
          <a:xfrm>
            <a:off x="5879592" y="1965960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13233A"/>
                </a:solidFill>
              </a:rPr>
              <a:t>Complete</a:t>
            </a:r>
            <a:endParaRPr lang="en-US" sz="880" dirty="0"/>
          </a:p>
          <a:p>
            <a:pPr marL="0" indent="0" algn="ctr">
              <a:buNone/>
            </a:pPr>
            <a:r>
              <a:rPr lang="en-US" sz="880" dirty="0">
                <a:solidFill>
                  <a:srgbClr val="13233A"/>
                </a:solidFill>
              </a:rPr>
              <a:t>modules</a:t>
            </a:r>
            <a:endParaRPr lang="en-US" sz="880" dirty="0"/>
          </a:p>
        </p:txBody>
      </p:sp>
      <p:sp>
        <p:nvSpPr>
          <p:cNvPr id="18" name="Shape 15"/>
          <p:cNvSpPr/>
          <p:nvPr/>
        </p:nvSpPr>
        <p:spPr>
          <a:xfrm>
            <a:off x="7580376" y="1481328"/>
            <a:ext cx="1508760" cy="713232"/>
          </a:xfrm>
          <a:prstGeom prst="roundRect">
            <a:avLst>
              <a:gd name="adj" fmla="val 10256"/>
            </a:avLst>
          </a:prstGeom>
          <a:solidFill>
            <a:srgbClr val="FDFEFF"/>
          </a:solidFill>
          <a:ln w="16510">
            <a:solidFill>
              <a:srgbClr val="0B5F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7671816" y="1618488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082B68"/>
                </a:solidFill>
              </a:rPr>
              <a:t>5. Assess</a:t>
            </a:r>
            <a:endParaRPr lang="en-US" sz="1320" dirty="0"/>
          </a:p>
        </p:txBody>
      </p:sp>
      <p:sp>
        <p:nvSpPr>
          <p:cNvPr id="20" name="Text 17"/>
          <p:cNvSpPr/>
          <p:nvPr/>
        </p:nvSpPr>
        <p:spPr>
          <a:xfrm>
            <a:off x="7671816" y="1965960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13233A"/>
                </a:solidFill>
              </a:rPr>
              <a:t>Quiz is submitted</a:t>
            </a:r>
            <a:endParaRPr lang="en-US" sz="880" dirty="0"/>
          </a:p>
        </p:txBody>
      </p:sp>
      <p:sp>
        <p:nvSpPr>
          <p:cNvPr id="21" name="Shape 18"/>
          <p:cNvSpPr/>
          <p:nvPr/>
        </p:nvSpPr>
        <p:spPr>
          <a:xfrm>
            <a:off x="9372600" y="1481328"/>
            <a:ext cx="1508760" cy="713232"/>
          </a:xfrm>
          <a:prstGeom prst="roundRect">
            <a:avLst>
              <a:gd name="adj" fmla="val 10256"/>
            </a:avLst>
          </a:prstGeom>
          <a:solidFill>
            <a:srgbClr val="FDFEFF"/>
          </a:solidFill>
          <a:ln w="16510">
            <a:solidFill>
              <a:srgbClr val="0B5F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9464040" y="1618488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082B68"/>
                </a:solidFill>
              </a:rPr>
              <a:t>6. Complete</a:t>
            </a:r>
            <a:endParaRPr lang="en-US" sz="1320" dirty="0"/>
          </a:p>
        </p:txBody>
      </p:sp>
      <p:sp>
        <p:nvSpPr>
          <p:cNvPr id="23" name="Text 20"/>
          <p:cNvSpPr/>
          <p:nvPr/>
        </p:nvSpPr>
        <p:spPr>
          <a:xfrm>
            <a:off x="9464040" y="1965960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13233A"/>
                </a:solidFill>
              </a:rPr>
              <a:t>Progress recorded</a:t>
            </a:r>
            <a:endParaRPr lang="en-US" sz="880" dirty="0"/>
          </a:p>
        </p:txBody>
      </p:sp>
      <p:sp>
        <p:nvSpPr>
          <p:cNvPr id="24" name="Shape 21"/>
          <p:cNvSpPr/>
          <p:nvPr/>
        </p:nvSpPr>
        <p:spPr>
          <a:xfrm>
            <a:off x="1956816" y="1837944"/>
            <a:ext cx="201168" cy="0"/>
          </a:xfrm>
          <a:prstGeom prst="line">
            <a:avLst/>
          </a:prstGeom>
          <a:noFill/>
          <a:ln w="15240">
            <a:solidFill>
              <a:srgbClr val="082B6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3749040" y="1837944"/>
            <a:ext cx="201168" cy="0"/>
          </a:xfrm>
          <a:prstGeom prst="line">
            <a:avLst/>
          </a:prstGeom>
          <a:noFill/>
          <a:ln w="15240">
            <a:solidFill>
              <a:srgbClr val="082B6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5541264" y="1837944"/>
            <a:ext cx="201168" cy="0"/>
          </a:xfrm>
          <a:prstGeom prst="line">
            <a:avLst/>
          </a:prstGeom>
          <a:noFill/>
          <a:ln w="15240">
            <a:solidFill>
              <a:srgbClr val="082B6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7333488" y="1837944"/>
            <a:ext cx="201168" cy="0"/>
          </a:xfrm>
          <a:prstGeom prst="line">
            <a:avLst/>
          </a:prstGeom>
          <a:noFill/>
          <a:ln w="15240">
            <a:solidFill>
              <a:srgbClr val="082B6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9125712" y="1837944"/>
            <a:ext cx="201168" cy="0"/>
          </a:xfrm>
          <a:prstGeom prst="line">
            <a:avLst/>
          </a:prstGeom>
          <a:noFill/>
          <a:ln w="15240">
            <a:solidFill>
              <a:srgbClr val="082B6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10126980" y="2240280"/>
            <a:ext cx="0" cy="420624"/>
          </a:xfrm>
          <a:prstGeom prst="line">
            <a:avLst/>
          </a:prstGeom>
          <a:noFill/>
          <a:ln w="15240">
            <a:solidFill>
              <a:srgbClr val="082B6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7726680" y="2743200"/>
            <a:ext cx="1508760" cy="658368"/>
          </a:xfrm>
          <a:prstGeom prst="roundRect">
            <a:avLst>
              <a:gd name="adj" fmla="val 11111"/>
            </a:avLst>
          </a:prstGeom>
          <a:solidFill>
            <a:srgbClr val="FDFEFF"/>
          </a:solidFill>
          <a:ln w="16510">
            <a:solidFill>
              <a:srgbClr val="0B5F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7818120" y="2880360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082B68"/>
                </a:solidFill>
              </a:rPr>
              <a:t>7. Certificate</a:t>
            </a:r>
            <a:endParaRPr lang="en-US" sz="1320" dirty="0"/>
          </a:p>
        </p:txBody>
      </p:sp>
      <p:sp>
        <p:nvSpPr>
          <p:cNvPr id="32" name="Text 29"/>
          <p:cNvSpPr/>
          <p:nvPr/>
        </p:nvSpPr>
        <p:spPr>
          <a:xfrm>
            <a:off x="7818120" y="3172968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13233A"/>
                </a:solidFill>
              </a:rPr>
              <a:t>PDF generated</a:t>
            </a:r>
            <a:endParaRPr lang="en-US" sz="880" dirty="0"/>
          </a:p>
        </p:txBody>
      </p:sp>
      <p:sp>
        <p:nvSpPr>
          <p:cNvPr id="33" name="Shape 30"/>
          <p:cNvSpPr/>
          <p:nvPr/>
        </p:nvSpPr>
        <p:spPr>
          <a:xfrm>
            <a:off x="9646920" y="2743200"/>
            <a:ext cx="1508760" cy="658368"/>
          </a:xfrm>
          <a:prstGeom prst="roundRect">
            <a:avLst>
              <a:gd name="adj" fmla="val 11111"/>
            </a:avLst>
          </a:prstGeom>
          <a:solidFill>
            <a:srgbClr val="FDFEFF"/>
          </a:solidFill>
          <a:ln w="16510">
            <a:solidFill>
              <a:srgbClr val="0B5F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9738360" y="2880360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082B68"/>
                </a:solidFill>
              </a:rPr>
              <a:t>8. Report</a:t>
            </a:r>
            <a:endParaRPr lang="en-US" sz="1320" dirty="0"/>
          </a:p>
        </p:txBody>
      </p:sp>
      <p:sp>
        <p:nvSpPr>
          <p:cNvPr id="35" name="Text 32"/>
          <p:cNvSpPr/>
          <p:nvPr/>
        </p:nvSpPr>
        <p:spPr>
          <a:xfrm>
            <a:off x="9738360" y="3172968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13233A"/>
                </a:solidFill>
              </a:rPr>
              <a:t>Results visible</a:t>
            </a:r>
            <a:endParaRPr lang="en-US" sz="880" dirty="0"/>
          </a:p>
        </p:txBody>
      </p:sp>
      <p:sp>
        <p:nvSpPr>
          <p:cNvPr id="36" name="Shape 33"/>
          <p:cNvSpPr/>
          <p:nvPr/>
        </p:nvSpPr>
        <p:spPr>
          <a:xfrm>
            <a:off x="9262872" y="3072384"/>
            <a:ext cx="329184" cy="0"/>
          </a:xfrm>
          <a:prstGeom prst="line">
            <a:avLst/>
          </a:prstGeom>
          <a:noFill/>
          <a:ln w="15240">
            <a:solidFill>
              <a:srgbClr val="082B6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411480" y="37947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82B68"/>
                </a:solidFill>
              </a:rPr>
              <a:t>People Who Use The System</a:t>
            </a:r>
            <a:endParaRPr lang="en-US" sz="1400" dirty="0"/>
          </a:p>
        </p:txBody>
      </p:sp>
      <p:sp>
        <p:nvSpPr>
          <p:cNvPr id="38" name="Shape 35"/>
          <p:cNvSpPr/>
          <p:nvPr/>
        </p:nvSpPr>
        <p:spPr>
          <a:xfrm>
            <a:off x="411480" y="4133088"/>
            <a:ext cx="1572768" cy="612648"/>
          </a:xfrm>
          <a:prstGeom prst="roundRect">
            <a:avLst>
              <a:gd name="adj" fmla="val 11940"/>
            </a:avLst>
          </a:prstGeom>
          <a:solidFill>
            <a:srgbClr val="FDFEFF"/>
          </a:solidFill>
          <a:ln w="15240">
            <a:solidFill>
              <a:srgbClr val="0B5F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/>
          <p:nvPr/>
        </p:nvSpPr>
        <p:spPr>
          <a:xfrm>
            <a:off x="521208" y="4261104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082B68"/>
                </a:solidFill>
              </a:rPr>
              <a:t>Learner</a:t>
            </a:r>
            <a:endParaRPr lang="en-US" sz="1220" dirty="0"/>
          </a:p>
        </p:txBody>
      </p:sp>
      <p:sp>
        <p:nvSpPr>
          <p:cNvPr id="40" name="Text 37"/>
          <p:cNvSpPr/>
          <p:nvPr/>
        </p:nvSpPr>
        <p:spPr>
          <a:xfrm>
            <a:off x="521208" y="4517136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3233A"/>
                </a:solidFill>
              </a:rPr>
              <a:t>Learn, assess, get</a:t>
            </a:r>
            <a:endParaRPr lang="en-US" sz="830" dirty="0"/>
          </a:p>
          <a:p>
            <a:pPr marL="0" indent="0" algn="ctr">
              <a:buNone/>
            </a:pPr>
            <a:r>
              <a:rPr lang="en-US" sz="830" dirty="0">
                <a:solidFill>
                  <a:srgbClr val="13233A"/>
                </a:solidFill>
              </a:rPr>
              <a:t>certificates</a:t>
            </a:r>
            <a:endParaRPr lang="en-US" sz="830" dirty="0"/>
          </a:p>
        </p:txBody>
      </p:sp>
      <p:sp>
        <p:nvSpPr>
          <p:cNvPr id="41" name="Shape 38"/>
          <p:cNvSpPr/>
          <p:nvPr/>
        </p:nvSpPr>
        <p:spPr>
          <a:xfrm>
            <a:off x="2670048" y="4133088"/>
            <a:ext cx="1572768" cy="612648"/>
          </a:xfrm>
          <a:prstGeom prst="roundRect">
            <a:avLst>
              <a:gd name="adj" fmla="val 11940"/>
            </a:avLst>
          </a:prstGeom>
          <a:solidFill>
            <a:srgbClr val="FDFEFF"/>
          </a:solidFill>
          <a:ln w="15240">
            <a:solidFill>
              <a:srgbClr val="0B5F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2779776" y="4261104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082B68"/>
                </a:solidFill>
              </a:rPr>
              <a:t>Instructor</a:t>
            </a:r>
            <a:endParaRPr lang="en-US" sz="1220" dirty="0"/>
          </a:p>
        </p:txBody>
      </p:sp>
      <p:sp>
        <p:nvSpPr>
          <p:cNvPr id="43" name="Text 40"/>
          <p:cNvSpPr/>
          <p:nvPr/>
        </p:nvSpPr>
        <p:spPr>
          <a:xfrm>
            <a:off x="2779776" y="4517136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3233A"/>
                </a:solidFill>
              </a:rPr>
              <a:t>Create and</a:t>
            </a:r>
            <a:endParaRPr lang="en-US" sz="830" dirty="0"/>
          </a:p>
          <a:p>
            <a:pPr marL="0" indent="0" algn="ctr">
              <a:buNone/>
            </a:pPr>
            <a:r>
              <a:rPr lang="en-US" sz="830" dirty="0">
                <a:solidFill>
                  <a:srgbClr val="13233A"/>
                </a:solidFill>
              </a:rPr>
              <a:t>publish training</a:t>
            </a:r>
            <a:endParaRPr lang="en-US" sz="830" dirty="0"/>
          </a:p>
        </p:txBody>
      </p:sp>
      <p:sp>
        <p:nvSpPr>
          <p:cNvPr id="44" name="Shape 41"/>
          <p:cNvSpPr/>
          <p:nvPr/>
        </p:nvSpPr>
        <p:spPr>
          <a:xfrm>
            <a:off x="4928616" y="4133088"/>
            <a:ext cx="1572768" cy="612648"/>
          </a:xfrm>
          <a:prstGeom prst="roundRect">
            <a:avLst>
              <a:gd name="adj" fmla="val 11940"/>
            </a:avLst>
          </a:prstGeom>
          <a:solidFill>
            <a:srgbClr val="FDFEFF"/>
          </a:solidFill>
          <a:ln w="15240">
            <a:solidFill>
              <a:srgbClr val="0B5F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2"/>
          <p:cNvSpPr/>
          <p:nvPr/>
        </p:nvSpPr>
        <p:spPr>
          <a:xfrm>
            <a:off x="5038344" y="4261104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082B68"/>
                </a:solidFill>
              </a:rPr>
              <a:t>Sysadmin</a:t>
            </a:r>
            <a:endParaRPr lang="en-US" sz="1220" dirty="0"/>
          </a:p>
        </p:txBody>
      </p:sp>
      <p:sp>
        <p:nvSpPr>
          <p:cNvPr id="46" name="Text 43"/>
          <p:cNvSpPr/>
          <p:nvPr/>
        </p:nvSpPr>
        <p:spPr>
          <a:xfrm>
            <a:off x="5038344" y="4517136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3233A"/>
                </a:solidFill>
              </a:rPr>
              <a:t>Manage users,</a:t>
            </a:r>
            <a:endParaRPr lang="en-US" sz="830" dirty="0"/>
          </a:p>
          <a:p>
            <a:pPr marL="0" indent="0" algn="ctr">
              <a:buNone/>
            </a:pPr>
            <a:r>
              <a:rPr lang="en-US" sz="830" dirty="0">
                <a:solidFill>
                  <a:srgbClr val="13233A"/>
                </a:solidFill>
              </a:rPr>
              <a:t>roles, reports</a:t>
            </a:r>
            <a:endParaRPr lang="en-US" sz="830" dirty="0"/>
          </a:p>
        </p:txBody>
      </p:sp>
      <p:sp>
        <p:nvSpPr>
          <p:cNvPr id="47" name="Text 44"/>
          <p:cNvSpPr/>
          <p:nvPr/>
        </p:nvSpPr>
        <p:spPr>
          <a:xfrm>
            <a:off x="411480" y="495604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82B68"/>
                </a:solidFill>
              </a:rPr>
              <a:t>Database Tables Used By The System</a:t>
            </a:r>
            <a:endParaRPr lang="en-US" sz="1400" dirty="0"/>
          </a:p>
        </p:txBody>
      </p:sp>
      <p:sp>
        <p:nvSpPr>
          <p:cNvPr id="48" name="Shape 45"/>
          <p:cNvSpPr/>
          <p:nvPr/>
        </p:nvSpPr>
        <p:spPr>
          <a:xfrm>
            <a:off x="411480" y="5294376"/>
            <a:ext cx="1874520" cy="640080"/>
          </a:xfrm>
          <a:prstGeom prst="roundRect">
            <a:avLst>
              <a:gd name="adj" fmla="val 11429"/>
            </a:avLst>
          </a:prstGeom>
          <a:solidFill>
            <a:srgbClr val="FDFEFF"/>
          </a:solidFill>
          <a:ln w="15240">
            <a:solidFill>
              <a:srgbClr val="0B5F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6"/>
          <p:cNvSpPr/>
          <p:nvPr/>
        </p:nvSpPr>
        <p:spPr>
          <a:xfrm>
            <a:off x="521208" y="5422392"/>
            <a:ext cx="1655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082B68"/>
                </a:solidFill>
              </a:rPr>
              <a:t>Users &amp; Roles</a:t>
            </a:r>
            <a:endParaRPr lang="en-US" sz="1220" dirty="0"/>
          </a:p>
        </p:txBody>
      </p:sp>
      <p:sp>
        <p:nvSpPr>
          <p:cNvPr id="50" name="Text 47"/>
          <p:cNvSpPr/>
          <p:nvPr/>
        </p:nvSpPr>
        <p:spPr>
          <a:xfrm>
            <a:off x="521208" y="5678424"/>
            <a:ext cx="1655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3233A"/>
                </a:solidFill>
              </a:rPr>
              <a:t>users, profiles, user_roles</a:t>
            </a:r>
            <a:endParaRPr lang="en-US" sz="830" dirty="0"/>
          </a:p>
        </p:txBody>
      </p:sp>
      <p:sp>
        <p:nvSpPr>
          <p:cNvPr id="51" name="Shape 48"/>
          <p:cNvSpPr/>
          <p:nvPr/>
        </p:nvSpPr>
        <p:spPr>
          <a:xfrm>
            <a:off x="2514600" y="5294376"/>
            <a:ext cx="1874520" cy="640080"/>
          </a:xfrm>
          <a:prstGeom prst="roundRect">
            <a:avLst>
              <a:gd name="adj" fmla="val 11429"/>
            </a:avLst>
          </a:prstGeom>
          <a:solidFill>
            <a:srgbClr val="FDFEFF"/>
          </a:solidFill>
          <a:ln w="15240">
            <a:solidFill>
              <a:srgbClr val="0B5F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49"/>
          <p:cNvSpPr/>
          <p:nvPr/>
        </p:nvSpPr>
        <p:spPr>
          <a:xfrm>
            <a:off x="2624328" y="5422392"/>
            <a:ext cx="1655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082B68"/>
                </a:solidFill>
              </a:rPr>
              <a:t>Courses &amp; Modules</a:t>
            </a:r>
            <a:endParaRPr lang="en-US" sz="1220" dirty="0"/>
          </a:p>
        </p:txBody>
      </p:sp>
      <p:sp>
        <p:nvSpPr>
          <p:cNvPr id="53" name="Text 50"/>
          <p:cNvSpPr/>
          <p:nvPr/>
        </p:nvSpPr>
        <p:spPr>
          <a:xfrm>
            <a:off x="2624328" y="5678424"/>
            <a:ext cx="1655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3233A"/>
                </a:solidFill>
              </a:rPr>
              <a:t>courses, course_modules</a:t>
            </a:r>
            <a:endParaRPr lang="en-US" sz="830" dirty="0"/>
          </a:p>
        </p:txBody>
      </p:sp>
      <p:sp>
        <p:nvSpPr>
          <p:cNvPr id="54" name="Shape 51"/>
          <p:cNvSpPr/>
          <p:nvPr/>
        </p:nvSpPr>
        <p:spPr>
          <a:xfrm>
            <a:off x="4617720" y="5294376"/>
            <a:ext cx="1874520" cy="640080"/>
          </a:xfrm>
          <a:prstGeom prst="roundRect">
            <a:avLst>
              <a:gd name="adj" fmla="val 11429"/>
            </a:avLst>
          </a:prstGeom>
          <a:solidFill>
            <a:srgbClr val="FDFEFF"/>
          </a:solidFill>
          <a:ln w="15240">
            <a:solidFill>
              <a:srgbClr val="0B5F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2"/>
          <p:cNvSpPr/>
          <p:nvPr/>
        </p:nvSpPr>
        <p:spPr>
          <a:xfrm>
            <a:off x="4727448" y="5422392"/>
            <a:ext cx="1655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082B68"/>
                </a:solidFill>
              </a:rPr>
              <a:t>Learning</a:t>
            </a:r>
            <a:endParaRPr lang="en-US" sz="1220" dirty="0"/>
          </a:p>
          <a:p>
            <a:pPr marL="0" indent="0" algn="ctr">
              <a:buNone/>
            </a:pPr>
            <a:r>
              <a:rPr lang="en-US" sz="1220" b="1" dirty="0">
                <a:solidFill>
                  <a:srgbClr val="082B68"/>
                </a:solidFill>
              </a:rPr>
              <a:t>Records</a:t>
            </a:r>
            <a:endParaRPr lang="en-US" sz="1220" dirty="0"/>
          </a:p>
        </p:txBody>
      </p:sp>
      <p:sp>
        <p:nvSpPr>
          <p:cNvPr id="56" name="Text 53"/>
          <p:cNvSpPr/>
          <p:nvPr/>
        </p:nvSpPr>
        <p:spPr>
          <a:xfrm>
            <a:off x="4727448" y="5678424"/>
            <a:ext cx="1655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3233A"/>
                </a:solidFill>
              </a:rPr>
              <a:t>enrollments,</a:t>
            </a:r>
            <a:endParaRPr lang="en-US" sz="830" dirty="0"/>
          </a:p>
          <a:p>
            <a:pPr marL="0" indent="0" algn="ctr">
              <a:buNone/>
            </a:pPr>
            <a:r>
              <a:rPr lang="en-US" sz="830" dirty="0">
                <a:solidFill>
                  <a:srgbClr val="13233A"/>
                </a:solidFill>
              </a:rPr>
              <a:t>results, history</a:t>
            </a:r>
            <a:endParaRPr lang="en-US" sz="830" dirty="0"/>
          </a:p>
        </p:txBody>
      </p:sp>
      <p:sp>
        <p:nvSpPr>
          <p:cNvPr id="57" name="Shape 54"/>
          <p:cNvSpPr/>
          <p:nvPr/>
        </p:nvSpPr>
        <p:spPr>
          <a:xfrm>
            <a:off x="6720840" y="5294376"/>
            <a:ext cx="1993392" cy="640080"/>
          </a:xfrm>
          <a:prstGeom prst="roundRect">
            <a:avLst>
              <a:gd name="adj" fmla="val 11429"/>
            </a:avLst>
          </a:prstGeom>
          <a:solidFill>
            <a:srgbClr val="FDFEFF"/>
          </a:solidFill>
          <a:ln w="15240">
            <a:solidFill>
              <a:srgbClr val="0B5F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5"/>
          <p:cNvSpPr/>
          <p:nvPr/>
        </p:nvSpPr>
        <p:spPr>
          <a:xfrm>
            <a:off x="6830568" y="5422392"/>
            <a:ext cx="1773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082B68"/>
                </a:solidFill>
              </a:rPr>
              <a:t>Certificates &amp; Audit</a:t>
            </a:r>
            <a:endParaRPr lang="en-US" sz="1220" dirty="0"/>
          </a:p>
        </p:txBody>
      </p:sp>
      <p:sp>
        <p:nvSpPr>
          <p:cNvPr id="59" name="Text 56"/>
          <p:cNvSpPr/>
          <p:nvPr/>
        </p:nvSpPr>
        <p:spPr>
          <a:xfrm>
            <a:off x="6830568" y="567842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3233A"/>
                </a:solidFill>
              </a:rPr>
              <a:t>certifications, notifications,</a:t>
            </a:r>
            <a:endParaRPr lang="en-US" sz="830" dirty="0"/>
          </a:p>
          <a:p>
            <a:pPr marL="0" indent="0" algn="ctr">
              <a:buNone/>
            </a:pPr>
            <a:r>
              <a:rPr lang="en-US" sz="830" dirty="0">
                <a:solidFill>
                  <a:srgbClr val="13233A"/>
                </a:solidFill>
              </a:rPr>
              <a:t>audit_logs</a:t>
            </a:r>
            <a:endParaRPr lang="en-US" sz="830" dirty="0"/>
          </a:p>
        </p:txBody>
      </p:sp>
      <p:sp>
        <p:nvSpPr>
          <p:cNvPr id="60" name="Shape 57"/>
          <p:cNvSpPr/>
          <p:nvPr/>
        </p:nvSpPr>
        <p:spPr>
          <a:xfrm>
            <a:off x="411480" y="6199632"/>
            <a:ext cx="11247120" cy="329184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7620">
            <a:solidFill>
              <a:srgbClr val="082B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8"/>
          <p:cNvSpPr/>
          <p:nvPr/>
        </p:nvSpPr>
        <p:spPr>
          <a:xfrm>
            <a:off x="566928" y="6291072"/>
            <a:ext cx="108813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3233A"/>
                </a:solidFill>
              </a:rPr>
              <a:t>Plain reading: the LMS workflow is supported by database tables for users, courses, enrollments, assessments, certificates, notifications, and audit history.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F"/>
          </a:solidFill>
          <a:ln w="12700">
            <a:solidFill>
              <a:srgbClr val="F7FA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84048" y="24688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82B6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People Who Use The System</a:t>
            </a:r>
            <a:endParaRPr lang="en-US" sz="3000" dirty="0"/>
          </a:p>
        </p:txBody>
      </p:sp>
      <p:pic>
        <p:nvPicPr>
          <p:cNvPr id="4" name="Image 0" descr="/mnt/data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210312"/>
            <a:ext cx="3154680" cy="95799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66928" y="1508760"/>
            <a:ext cx="3154680" cy="3246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7780">
            <a:solidFill>
              <a:srgbClr val="0B5F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95528" y="1764792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82B68"/>
                </a:solidFill>
              </a:rPr>
              <a:t>Learner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886968" y="2276856"/>
            <a:ext cx="2514600" cy="0"/>
          </a:xfrm>
          <a:prstGeom prst="line">
            <a:avLst/>
          </a:prstGeom>
          <a:noFill/>
          <a:ln w="12700">
            <a:solidFill>
              <a:srgbClr val="0B5F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1042416" y="2514600"/>
            <a:ext cx="2423160" cy="1691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13233A"/>
                </a:solidFill>
              </a:rPr>
              <a:t>Browse courses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13233A"/>
                </a:solidFill>
              </a:rPr>
              <a:t>Enroll in training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13233A"/>
                </a:solidFill>
              </a:rPr>
              <a:t>Complete modules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13233A"/>
                </a:solidFill>
              </a:rPr>
              <a:t>Take assessments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13233A"/>
                </a:solidFill>
              </a:rPr>
              <a:t>Download certificates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480560" y="1508760"/>
            <a:ext cx="3154680" cy="3246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7780">
            <a:solidFill>
              <a:srgbClr val="0B5F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709160" y="1764792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82B68"/>
                </a:solidFill>
              </a:rPr>
              <a:t>Instructor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4800600" y="2276856"/>
            <a:ext cx="2514600" cy="0"/>
          </a:xfrm>
          <a:prstGeom prst="line">
            <a:avLst/>
          </a:prstGeom>
          <a:noFill/>
          <a:ln w="12700">
            <a:solidFill>
              <a:srgbClr val="0B5F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956048" y="2514600"/>
            <a:ext cx="2423160" cy="1691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13233A"/>
                </a:solidFill>
              </a:rPr>
              <a:t>Create courses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13233A"/>
                </a:solidFill>
              </a:rPr>
              <a:t>Add modules and assessments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13233A"/>
                </a:solidFill>
              </a:rPr>
              <a:t>Publish training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13233A"/>
                </a:solidFill>
              </a:rPr>
              <a:t>Track learner progress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8394192" y="1508760"/>
            <a:ext cx="3154680" cy="3246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7780">
            <a:solidFill>
              <a:srgbClr val="0B5F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8622792" y="1764792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82B68"/>
                </a:solidFill>
              </a:rPr>
              <a:t>Sysadmin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8714232" y="2276856"/>
            <a:ext cx="2514600" cy="0"/>
          </a:xfrm>
          <a:prstGeom prst="line">
            <a:avLst/>
          </a:prstGeom>
          <a:noFill/>
          <a:ln w="12700">
            <a:solidFill>
              <a:srgbClr val="0B5F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8869680" y="2514600"/>
            <a:ext cx="2423160" cy="1691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13233A"/>
                </a:solidFill>
              </a:rPr>
              <a:t>Manage users and roles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13233A"/>
                </a:solidFill>
              </a:rPr>
              <a:t>Configure LMS settings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13233A"/>
                </a:solidFill>
              </a:rPr>
              <a:t>Review reports and audit logs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13233A"/>
                </a:solidFill>
              </a:rPr>
              <a:t>Maintain system data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F"/>
          </a:solidFill>
          <a:ln w="12700">
            <a:solidFill>
              <a:srgbClr val="F7FA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84048" y="24688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82B6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The LMS Does</a:t>
            </a:r>
            <a:endParaRPr lang="en-US" sz="3000" dirty="0"/>
          </a:p>
        </p:txBody>
      </p:sp>
      <p:pic>
        <p:nvPicPr>
          <p:cNvPr id="4" name="Image 0" descr="/mnt/data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210312"/>
            <a:ext cx="3154680" cy="9579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" y="1600200"/>
            <a:ext cx="10149840" cy="3200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3233A"/>
                </a:solidFill>
              </a:rPr>
              <a:t>Stores courses, modules, assessments, enrollments, results, certificates, and training history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3233A"/>
                </a:solidFill>
              </a:rPr>
              <a:t>Guides learners from course enrollment to assessment completion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3233A"/>
                </a:solidFill>
              </a:rPr>
              <a:t>Automatically records progress and completion status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3233A"/>
                </a:solidFill>
              </a:rPr>
              <a:t>Issues PDF certificates after successful course assessment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3233A"/>
                </a:solidFill>
              </a:rPr>
              <a:t>Provides reporting, notifications, announcements, leaderboard, and audit visibility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F"/>
          </a:solidFill>
          <a:ln w="12700">
            <a:solidFill>
              <a:srgbClr val="F7FA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84048" y="24688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82B6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Database Tables Used By The System</a:t>
            </a:r>
            <a:endParaRPr lang="en-US" sz="3000" dirty="0"/>
          </a:p>
        </p:txBody>
      </p:sp>
      <p:pic>
        <p:nvPicPr>
          <p:cNvPr id="4" name="Image 0" descr="/mnt/data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210312"/>
            <a:ext cx="3154680" cy="95799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1508760"/>
            <a:ext cx="2423160" cy="393192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6510">
            <a:solidFill>
              <a:srgbClr val="0B5F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85800" y="178308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82B68"/>
                </a:solidFill>
              </a:rPr>
              <a:t>Identity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795528" y="2304288"/>
            <a:ext cx="1847088" cy="0"/>
          </a:xfrm>
          <a:prstGeom prst="line">
            <a:avLst/>
          </a:prstGeom>
          <a:noFill/>
          <a:ln w="12700">
            <a:solidFill>
              <a:srgbClr val="0B5F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914400" y="2578608"/>
            <a:ext cx="1828800" cy="2103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13233A"/>
                </a:solidFill>
              </a:rPr>
              <a:t>users</a:t>
            </a:r>
            <a:endParaRPr lang="en-US" sz="1350" dirty="0"/>
          </a:p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13233A"/>
                </a:solidFill>
              </a:rPr>
              <a:t>profiles</a:t>
            </a:r>
            <a:endParaRPr lang="en-US" sz="1350" dirty="0"/>
          </a:p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13233A"/>
                </a:solidFill>
              </a:rPr>
              <a:t>user_roles</a:t>
            </a:r>
            <a:endParaRPr lang="en-US" sz="1350" dirty="0"/>
          </a:p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13233A"/>
                </a:solidFill>
              </a:rPr>
              <a:t>departments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3429000" y="1508760"/>
            <a:ext cx="2423160" cy="393192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6510">
            <a:solidFill>
              <a:srgbClr val="0B5F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3611880" y="178308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82B68"/>
                </a:solidFill>
              </a:rPr>
              <a:t>Content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3721608" y="2304288"/>
            <a:ext cx="1847088" cy="0"/>
          </a:xfrm>
          <a:prstGeom prst="line">
            <a:avLst/>
          </a:prstGeom>
          <a:noFill/>
          <a:ln w="12700">
            <a:solidFill>
              <a:srgbClr val="0B5F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3840480" y="2578608"/>
            <a:ext cx="1828800" cy="2103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13233A"/>
                </a:solidFill>
              </a:rPr>
              <a:t>courses</a:t>
            </a:r>
            <a:endParaRPr lang="en-US" sz="1350" dirty="0"/>
          </a:p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13233A"/>
                </a:solidFill>
              </a:rPr>
              <a:t>course_modules</a:t>
            </a:r>
            <a:endParaRPr lang="en-US" sz="1350" dirty="0"/>
          </a:p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13233A"/>
                </a:solidFill>
              </a:rPr>
              <a:t>assessments</a:t>
            </a:r>
            <a:endParaRPr lang="en-US" sz="1350" dirty="0"/>
          </a:p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13233A"/>
                </a:solidFill>
              </a:rPr>
              <a:t>assessment_questions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355080" y="1508760"/>
            <a:ext cx="2423160" cy="393192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6510">
            <a:solidFill>
              <a:srgbClr val="0B5F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537960" y="178308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82B68"/>
                </a:solidFill>
              </a:rPr>
              <a:t>Activity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6647688" y="2304288"/>
            <a:ext cx="1847088" cy="0"/>
          </a:xfrm>
          <a:prstGeom prst="line">
            <a:avLst/>
          </a:prstGeom>
          <a:noFill/>
          <a:ln w="12700">
            <a:solidFill>
              <a:srgbClr val="0B5F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766560" y="2578608"/>
            <a:ext cx="1828800" cy="2103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13233A"/>
                </a:solidFill>
              </a:rPr>
              <a:t>enrollments</a:t>
            </a:r>
            <a:endParaRPr lang="en-US" sz="1350" dirty="0"/>
          </a:p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13233A"/>
                </a:solidFill>
              </a:rPr>
              <a:t>assessment_results</a:t>
            </a:r>
            <a:endParaRPr lang="en-US" sz="1350" dirty="0"/>
          </a:p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13233A"/>
                </a:solidFill>
              </a:rPr>
              <a:t>training_assignments</a:t>
            </a:r>
            <a:endParaRPr lang="en-US" sz="1350" dirty="0"/>
          </a:p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13233A"/>
                </a:solidFill>
              </a:rPr>
              <a:t>training_history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9281160" y="1508760"/>
            <a:ext cx="2423160" cy="393192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6510">
            <a:solidFill>
              <a:srgbClr val="0B5F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9464040" y="178308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82B68"/>
                </a:solidFill>
              </a:rPr>
              <a:t>Operations</a:t>
            </a:r>
            <a:endParaRPr lang="en-US" sz="1700" dirty="0"/>
          </a:p>
        </p:txBody>
      </p:sp>
      <p:sp>
        <p:nvSpPr>
          <p:cNvPr id="19" name="Shape 16"/>
          <p:cNvSpPr/>
          <p:nvPr/>
        </p:nvSpPr>
        <p:spPr>
          <a:xfrm>
            <a:off x="9573768" y="2304288"/>
            <a:ext cx="1847088" cy="0"/>
          </a:xfrm>
          <a:prstGeom prst="line">
            <a:avLst/>
          </a:prstGeom>
          <a:noFill/>
          <a:ln w="12700">
            <a:solidFill>
              <a:srgbClr val="0B5F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9692640" y="2578608"/>
            <a:ext cx="1828800" cy="2103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13233A"/>
                </a:solidFill>
              </a:rPr>
              <a:t>certifications</a:t>
            </a:r>
            <a:endParaRPr lang="en-US" sz="1350" dirty="0"/>
          </a:p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13233A"/>
                </a:solidFill>
              </a:rPr>
              <a:t>notifications</a:t>
            </a:r>
            <a:endParaRPr lang="en-US" sz="1350" dirty="0"/>
          </a:p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13233A"/>
                </a:solidFill>
              </a:rPr>
              <a:t>announcements</a:t>
            </a:r>
            <a:endParaRPr lang="en-US" sz="1350" dirty="0"/>
          </a:p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13233A"/>
                </a:solidFill>
              </a:rPr>
              <a:t>approval_requests</a:t>
            </a:r>
            <a:endParaRPr lang="en-US" sz="1350" dirty="0"/>
          </a:p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13233A"/>
                </a:solidFill>
              </a:rPr>
              <a:t>audit_logs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339</Words>
  <Application>Microsoft Office PowerPoint</Application>
  <PresentationFormat>Widescreen</PresentationFormat>
  <Paragraphs>101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Central Bank of Somalia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CBS LMS Presentation</dc:title>
  <dc:subject>CBS LMS Presentation</dc:subject>
  <dc:creator>OpenAI</dc:creator>
  <cp:lastModifiedBy>Abdirahman Abdikani Hanafi</cp:lastModifiedBy>
  <cp:revision>2</cp:revision>
  <dcterms:created xsi:type="dcterms:W3CDTF">2026-07-16T06:23:32Z</dcterms:created>
  <dcterms:modified xsi:type="dcterms:W3CDTF">2026-07-16T06:39:19Z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45d8276-70ba-4235-912c-04cc88d234a6_Enabled">
    <vt:lpwstr>true</vt:lpwstr>
  </property>
  <property fmtid="{D5CDD505-2E9C-101B-9397-08002B2CF9AE}" pid="3" name="MSIP_Label_145d8276-70ba-4235-912c-04cc88d234a6_SetDate">
    <vt:lpwstr>2026-07-16T06:38:32Z</vt:lpwstr>
  </property>
  <property fmtid="{D5CDD505-2E9C-101B-9397-08002B2CF9AE}" pid="4" name="MSIP_Label_145d8276-70ba-4235-912c-04cc88d234a6_Method">
    <vt:lpwstr>Privileged</vt:lpwstr>
  </property>
  <property fmtid="{D5CDD505-2E9C-101B-9397-08002B2CF9AE}" pid="5" name="MSIP_Label_145d8276-70ba-4235-912c-04cc88d234a6_Name">
    <vt:lpwstr>Public</vt:lpwstr>
  </property>
  <property fmtid="{D5CDD505-2E9C-101B-9397-08002B2CF9AE}" pid="6" name="MSIP_Label_145d8276-70ba-4235-912c-04cc88d234a6_SiteId">
    <vt:lpwstr>a8ae7534-9c11-40cd-a39a-b7b4c44ba010</vt:lpwstr>
  </property>
  <property fmtid="{D5CDD505-2E9C-101B-9397-08002B2CF9AE}" pid="7" name="MSIP_Label_145d8276-70ba-4235-912c-04cc88d234a6_ActionId">
    <vt:lpwstr>a2282af0-9007-4d77-b212-6eee9878fd0d</vt:lpwstr>
  </property>
  <property fmtid="{D5CDD505-2E9C-101B-9397-08002B2CF9AE}" pid="8" name="MSIP_Label_145d8276-70ba-4235-912c-04cc88d234a6_ContentBits">
    <vt:lpwstr>0</vt:lpwstr>
  </property>
  <property fmtid="{D5CDD505-2E9C-101B-9397-08002B2CF9AE}" pid="9" name="MSIP_Label_145d8276-70ba-4235-912c-04cc88d234a6_Tag">
    <vt:lpwstr>10, 0, 1, 1</vt:lpwstr>
  </property>
</Properties>
</file>